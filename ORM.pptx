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jpeg" ContentType="image/jpe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sr-Latn-RS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  <p:sp>
        <p:nvSpPr>
          <p:cNvPr id="15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r-Latn-R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79640" cy="188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1800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r>
              <a:rPr b="0" lang="sr-Latn-RS" sz="1800" spc="-1" strike="noStrike">
                <a:latin typeface="Arial"/>
              </a:rPr>
              <a:t>Click to edit the title text format</a:t>
            </a:r>
            <a:endParaRPr b="0" lang="sr-Latn-RS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3200" spc="-1" strike="noStrike">
                <a:latin typeface="Arial"/>
              </a:rPr>
              <a:t>Click to edit the outline text format</a:t>
            </a:r>
            <a:endParaRPr b="0" lang="sr-Latn-R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2800" spc="-1" strike="noStrike">
                <a:latin typeface="Arial"/>
              </a:rPr>
              <a:t>Second Outline Level</a:t>
            </a:r>
            <a:endParaRPr b="0" lang="sr-Latn-R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400" spc="-1" strike="noStrike">
                <a:latin typeface="Arial"/>
              </a:rPr>
              <a:t>Third Outline Level</a:t>
            </a:r>
            <a:endParaRPr b="0" lang="sr-Latn-R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2000" spc="-1" strike="noStrike">
                <a:latin typeface="Arial"/>
              </a:rPr>
              <a:t>Fourth Outline Level</a:t>
            </a:r>
            <a:endParaRPr b="0" lang="sr-Latn-R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000" spc="-1" strike="noStrike">
                <a:latin typeface="Arial"/>
              </a:rPr>
              <a:t>Fifth Outline Level</a:t>
            </a:r>
            <a:endParaRPr b="0" lang="sr-Latn-R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000" spc="-1" strike="noStrike">
                <a:latin typeface="Arial"/>
              </a:rPr>
              <a:t>Sixth Outline Level</a:t>
            </a:r>
            <a:endParaRPr b="0" lang="sr-Latn-R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000" spc="-1" strike="noStrike">
                <a:latin typeface="Arial"/>
              </a:rPr>
              <a:t>Seventh Outline Level</a:t>
            </a:r>
            <a:endParaRPr b="0" lang="sr-Latn-R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flipV="1">
            <a:off x="0" y="-720"/>
            <a:ext cx="10079640" cy="107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1080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r>
              <a:rPr b="0" lang="sr-Latn-RS" sz="1800" spc="-1" strike="noStrike">
                <a:latin typeface="Arial"/>
              </a:rPr>
              <a:t>Click to edit the title text format</a:t>
            </a:r>
            <a:endParaRPr b="0" lang="sr-Latn-RS" sz="18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9640" cy="404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Click to edit the outline text format</a:t>
            </a:r>
            <a:endParaRPr b="0" lang="sr-Latn-R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1800" spc="-1" strike="noStrike">
                <a:latin typeface="Arial"/>
              </a:rPr>
              <a:t>Second Outline Level</a:t>
            </a:r>
            <a:endParaRPr b="0" lang="sr-Latn-R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Third Outline Level</a:t>
            </a:r>
            <a:endParaRPr b="0" lang="sr-Latn-R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1800" spc="-1" strike="noStrike">
                <a:latin typeface="Arial"/>
              </a:rPr>
              <a:t>Fourth Outline Level</a:t>
            </a:r>
            <a:endParaRPr b="0" lang="sr-Latn-R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Fifth Outline Level</a:t>
            </a:r>
            <a:endParaRPr b="0" lang="sr-Latn-R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Sixth Outline Level</a:t>
            </a:r>
            <a:endParaRPr b="0" lang="sr-Latn-R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Seventh Outline Level</a:t>
            </a:r>
            <a:endParaRPr b="0" lang="sr-Latn-R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flipV="1">
            <a:off x="0" y="-720"/>
            <a:ext cx="10079640" cy="107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1080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r>
              <a:rPr b="0" lang="sr-Latn-RS" sz="1800" spc="-1" strike="noStrike">
                <a:latin typeface="Arial"/>
              </a:rPr>
              <a:t>Click to edit the title text format</a:t>
            </a:r>
            <a:endParaRPr b="0" lang="sr-Latn-RS" sz="18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9640" cy="404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Click to edit the outline text format</a:t>
            </a:r>
            <a:endParaRPr b="0" lang="sr-Latn-R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1800" spc="-1" strike="noStrike">
                <a:latin typeface="Arial"/>
              </a:rPr>
              <a:t>Second Outline Level</a:t>
            </a:r>
            <a:endParaRPr b="0" lang="sr-Latn-R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Third Outline Level</a:t>
            </a:r>
            <a:endParaRPr b="0" lang="sr-Latn-R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1800" spc="-1" strike="noStrike">
                <a:latin typeface="Arial"/>
              </a:rPr>
              <a:t>Fourth Outline Level</a:t>
            </a:r>
            <a:endParaRPr b="0" lang="sr-Latn-R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Fifth Outline Level</a:t>
            </a:r>
            <a:endParaRPr b="0" lang="sr-Latn-R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Sixth Outline Level</a:t>
            </a:r>
            <a:endParaRPr b="0" lang="sr-Latn-R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1800" spc="-1" strike="noStrike">
                <a:latin typeface="Arial"/>
              </a:rPr>
              <a:t>Seventh Outline Level</a:t>
            </a:r>
            <a:endParaRPr b="0" lang="sr-Latn-R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flipV="1">
            <a:off x="0" y="-720"/>
            <a:ext cx="10079640" cy="17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1080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0" y="5580000"/>
            <a:ext cx="10079640" cy="8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1080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sr-Latn-RS" sz="4400" spc="-1" strike="noStrike">
                <a:latin typeface="Arial"/>
              </a:rPr>
              <a:t>Click to edit the title text format</a:t>
            </a:r>
            <a:endParaRPr b="0" lang="sr-Latn-R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3200" spc="-1" strike="noStrike">
                <a:latin typeface="Arial"/>
              </a:rPr>
              <a:t>Click to edit the outline text format</a:t>
            </a:r>
            <a:endParaRPr b="0" lang="sr-Latn-R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2800" spc="-1" strike="noStrike">
                <a:latin typeface="Arial"/>
              </a:rPr>
              <a:t>Second Outline Level</a:t>
            </a:r>
            <a:endParaRPr b="0" lang="sr-Latn-R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400" spc="-1" strike="noStrike">
                <a:latin typeface="Arial"/>
              </a:rPr>
              <a:t>Third Outline Level</a:t>
            </a:r>
            <a:endParaRPr b="0" lang="sr-Latn-R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r-Latn-RS" sz="2000" spc="-1" strike="noStrike">
                <a:latin typeface="Arial"/>
              </a:rPr>
              <a:t>Fourth Outline Level</a:t>
            </a:r>
            <a:endParaRPr b="0" lang="sr-Latn-R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000" spc="-1" strike="noStrike">
                <a:latin typeface="Arial"/>
              </a:rPr>
              <a:t>Fifth Outline Level</a:t>
            </a:r>
            <a:endParaRPr b="0" lang="sr-Latn-R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000" spc="-1" strike="noStrike">
                <a:latin typeface="Arial"/>
              </a:rPr>
              <a:t>Sixth Outline Level</a:t>
            </a:r>
            <a:endParaRPr b="0" lang="sr-Latn-R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r-Latn-RS" sz="2000" spc="-1" strike="noStrike">
                <a:latin typeface="Arial"/>
              </a:rPr>
              <a:t>Seventh Outline Level</a:t>
            </a:r>
            <a:endParaRPr b="0" lang="sr-Latn-R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>
            <a:off x="450000" y="270000"/>
            <a:ext cx="8999640" cy="32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6000" spc="-1" strike="noStrike">
                <a:solidFill>
                  <a:srgbClr val="04617b"/>
                </a:solidFill>
                <a:latin typeface="Source Sans Pro Light"/>
              </a:rPr>
              <a:t>ORM projekat</a:t>
            </a:r>
            <a:endParaRPr b="0" lang="sr-Latn-RS" sz="600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50000" y="3870000"/>
            <a:ext cx="899964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r">
              <a:lnSpc>
                <a:spcPct val="100000"/>
              </a:lnSpc>
            </a:pPr>
            <a:r>
              <a:rPr b="1" lang="de-AT" sz="2700" spc="-1" strike="noStrike">
                <a:solidFill>
                  <a:srgbClr val="dbf5f9"/>
                </a:solidFill>
                <a:latin typeface="Source Sans Pro"/>
              </a:rPr>
              <a:t>Bogdan Cvetanovski-Pašalić RA26/2022</a:t>
            </a:r>
            <a:endParaRPr b="0" lang="sr-Latn-RS" sz="27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de-AT" sz="2700" spc="-1" strike="noStrike">
                <a:solidFill>
                  <a:srgbClr val="dbf5f9"/>
                </a:solidFill>
                <a:latin typeface="Source Sans Pro"/>
              </a:rPr>
              <a:t>Petar Rešetar RA152/2022</a:t>
            </a:r>
            <a:endParaRPr b="0" lang="sr-Latn-RS" sz="2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TCP protokol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TCP predstavlja protokol transportnog nivoa. On omogućava istovremeno dvosmernu pouzdanu komunikaciju između klijenta i servera u vidu konekcije koja se uspostavlja pomoću metode rukovanja (eng. Handshaking).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TCP koristi segment za jedinicu prenosa (jedinice podataka transportnog sloja – TPDU). Proces podele poruke naziva se segmentacija.</a:t>
            </a:r>
            <a:endParaRPr b="0" lang="sr-Latn-R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TCP protokol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Uspostavljanje TCP veze vrši se preko tri poruke (TCP three-way Handshake).</a:t>
            </a:r>
            <a:endParaRPr b="0" lang="sr-Latn-RS" sz="2400" spc="-1" strike="noStrike"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2"/>
          <a:stretch/>
        </p:blipFill>
        <p:spPr>
          <a:xfrm>
            <a:off x="2880000" y="1980000"/>
            <a:ext cx="6302520" cy="35096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TCP protokol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Slično, prekidanje veze izgleda ovako:</a:t>
            </a:r>
            <a:endParaRPr b="0" lang="sr-Latn-RS" sz="2400" spc="-1" strike="noStrike"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2"/>
          <a:stretch/>
        </p:blipFill>
        <p:spPr>
          <a:xfrm>
            <a:off x="2160000" y="1926720"/>
            <a:ext cx="5171760" cy="374292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TCP protokol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Slanje podataka se vrši tako što primalac potvrđuje svaki pristigli paket. </a:t>
            </a:r>
            <a:endParaRPr b="0" lang="sr-Latn-RS" sz="2400" spc="-1" strike="noStrike"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2"/>
          <a:stretch/>
        </p:blipFill>
        <p:spPr>
          <a:xfrm>
            <a:off x="2340000" y="2038680"/>
            <a:ext cx="5039640" cy="363096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Zadatak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Za zadatak dobili smo da realizujemo interaktivnu chat komunikaciju zasnovanu na TCP protokolu (na lokalnoj mreži).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Takođe, trebali smo da realizujemo sledeće funkcije:</a:t>
            </a:r>
            <a:endParaRPr b="0" lang="sr-Latn-R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Zadatak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Login – prijava korisnika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Logout – odjava korisnika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Users – zahtev za listu prijavljenih korisnika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TalkTo (ime korisnika) – zahtev za komunikaciju sa određenim klijentom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Data (poruka) – poruka koja se šalje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Disconnect – odjava korisnika</a:t>
            </a:r>
            <a:endParaRPr b="0" lang="sr-Latn-R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Arhitektura stanja klijenta</a:t>
            </a:r>
            <a:endParaRPr b="0" lang="sr-Latn-RS" sz="4500" spc="-1" strike="noStrike"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2"/>
          <a:stretch/>
        </p:blipFill>
        <p:spPr>
          <a:xfrm>
            <a:off x="1620000" y="1161720"/>
            <a:ext cx="6479640" cy="450792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Realizacija rešenja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0000"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Za rešenje zadatka nismo koristili ni jednu dodatnu biblioteku osim POSIX biblioteke za TCP na Linux-u, POSIX niti i standardne biblioteke C jezika.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Na klijentu se izvršavaju dve niti; jedna za slušanje poruka i druga za slanje istih. Na serveru se izvršava jedna nit koja sluša dolazak novih klijenata i za svakog klijenta po jedna nit koja ga opslužuje. Maksimum klijenata je 5.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Testiranje je bilo realizovano u okviru lokalne mreže korišćenjem dva računara (jedan je držao server, a drugi je predstavljao klijente).</a:t>
            </a:r>
            <a:endParaRPr b="0" lang="sr-Latn-R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Realizacija rešenja</a:t>
            </a:r>
            <a:endParaRPr b="0" lang="sr-Latn-RS" sz="4500" spc="-1" strike="noStrike"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02920" y="1440000"/>
            <a:ext cx="9021600" cy="34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Serverov socket je neblokirajuć.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Obrada komandi i provera njihove validnosti izvršava se na serveru, klijent program služi samo kao API za server.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Korisničko ime može biti maksimalno 15 karaktera.</a:t>
            </a:r>
            <a:endParaRPr b="0" lang="sr-Latn-R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Source Sans Pro"/>
              </a:rPr>
              <a:t>Server ume da obradi nagle prekide veze klijenata.</a:t>
            </a:r>
            <a:endParaRPr b="0" lang="sr-Latn-R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502920" y="90720"/>
            <a:ext cx="9071280" cy="9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0000"/>
              </a:lnSpc>
            </a:pPr>
            <a:r>
              <a:rPr b="0" lang="de-AT" sz="4500" spc="-1" strike="noStrike">
                <a:solidFill>
                  <a:srgbClr val="ffffff"/>
                </a:solidFill>
                <a:latin typeface="Source Sans Pro Light"/>
              </a:rPr>
              <a:t>Primer testiranja</a:t>
            </a:r>
            <a:endParaRPr b="0" lang="sr-Latn-RS" sz="4500" spc="-1" strike="noStrike"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2"/>
          <a:stretch/>
        </p:blipFill>
        <p:spPr>
          <a:xfrm>
            <a:off x="12600" y="1080000"/>
            <a:ext cx="10067040" cy="45896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540000" y="270000"/>
            <a:ext cx="8999640" cy="45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de-AT" sz="4000" spc="-1" strike="noStrike">
                <a:solidFill>
                  <a:srgbClr val="009eda"/>
                </a:solidFill>
                <a:latin typeface="Source Sans Pro Black"/>
              </a:rPr>
              <a:t>Fin.</a:t>
            </a:r>
            <a:endParaRPr b="0" lang="sr-Latn-R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LibreOffice/7.1.2.2$Windows_X86_64 LibreOffice_project/8a45595d069ef5570103caea1b71cc9d82b2aae4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2024-12-23T19:24:17Z</dcterms:created>
  <dc:creator/>
  <dc:description/>
  <dc:language>sr-Latn-RS</dc:language>
  <cp:lastModifiedBy/>
  <dcterms:modified xsi:type="dcterms:W3CDTF">2025-06-18T16:04:25Z</dcterms:modified>
  <cp:revision>7</cp:revision>
  <dc:subject/>
  <dc:title>Vivid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